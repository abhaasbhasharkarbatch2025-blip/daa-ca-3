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13232" y="658368"/>
            <a:ext cx="10789920" cy="320040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100" b="1">
                <a:solidFill>
                  <a:srgbClr val="46DCFF"/>
                </a:solidFill>
                <a:latin typeface="Aptos"/>
              </a:rPr>
              <a:t>DESIGN &amp; ANALYSIS OF ALGORITHMS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261872"/>
            <a:ext cx="6492240" cy="1417320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4200" b="1">
                <a:solidFill>
                  <a:srgbClr val="F5F7FC"/>
                </a:solidFill>
                <a:latin typeface="Aptos"/>
              </a:rPr>
              <a:t>GRADIENT
DESCENT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3429000"/>
            <a:ext cx="5669280" cy="56692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900" b="0">
                <a:solidFill>
                  <a:srgbClr val="A5AEC5"/>
                </a:solidFill>
                <a:latin typeface="Aptos"/>
              </a:rPr>
              <a:t>An iterative algorithm for finding a minimum.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4224528"/>
            <a:ext cx="5486400" cy="320040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250" b="1">
                <a:solidFill>
                  <a:srgbClr val="9D69FF"/>
                </a:solidFill>
                <a:latin typeface="Aptos"/>
              </a:rPr>
              <a:t>Algorithm  •  Pseudocode  •  Complexity  •  Convergence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6720840" y="4572000"/>
            <a:ext cx="594360" cy="685800"/>
          </a:xfrm>
          <a:prstGeom prst="line">
            <a:avLst/>
          </a:prstGeom>
          <a:ln w="38100">
            <a:solidFill>
              <a:srgbClr val="9D69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315200" y="4572000"/>
            <a:ext cx="594360" cy="457200"/>
          </a:xfrm>
          <a:prstGeom prst="line">
            <a:avLst/>
          </a:prstGeom>
          <a:ln w="38100">
            <a:solidFill>
              <a:srgbClr val="9D69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7909560" y="3749039"/>
            <a:ext cx="640080" cy="1280161"/>
          </a:xfrm>
          <a:prstGeom prst="line">
            <a:avLst/>
          </a:prstGeom>
          <a:ln w="38100">
            <a:solidFill>
              <a:srgbClr val="9D69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549640" y="3749039"/>
            <a:ext cx="640080" cy="594361"/>
          </a:xfrm>
          <a:prstGeom prst="line">
            <a:avLst/>
          </a:prstGeom>
          <a:ln w="38100">
            <a:solidFill>
              <a:srgbClr val="9D69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9189720" y="2971800"/>
            <a:ext cx="731520" cy="1371600"/>
          </a:xfrm>
          <a:prstGeom prst="line">
            <a:avLst/>
          </a:prstGeom>
          <a:ln w="38100">
            <a:solidFill>
              <a:srgbClr val="9D69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921240" y="2971800"/>
            <a:ext cx="1051560" cy="2194560"/>
          </a:xfrm>
          <a:prstGeom prst="line">
            <a:avLst/>
          </a:prstGeom>
          <a:ln w="38100">
            <a:solidFill>
              <a:srgbClr val="9D69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8385048" y="3657600"/>
            <a:ext cx="256032" cy="256032"/>
          </a:xfrm>
          <a:prstGeom prst="ellipse">
            <a:avLst/>
          </a:prstGeom>
          <a:solidFill>
            <a:srgbClr val="FFD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6473952"/>
            <a:ext cx="10789920" cy="20116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r"/>
            <a:r>
              <a:rPr sz="850" b="0">
                <a:solidFill>
                  <a:srgbClr val="A5AEC5"/>
                </a:solidFill>
                <a:latin typeface="Aptos"/>
              </a:rPr>
              <a:t>GRADIENT DESCENT  •  DESIGN &amp; ANALYSIS OF ALGORITHMS  • 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0040"/>
            <a:ext cx="10789920" cy="256032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000" b="1">
                <a:solidFill>
                  <a:srgbClr val="46DCFF"/>
                </a:solidFill>
                <a:latin typeface="Aptos"/>
              </a:rPr>
              <a:t>DAA  / 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35640" cy="56692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2900" b="1">
                <a:solidFill>
                  <a:srgbClr val="F5F7FC"/>
                </a:solidFill>
                <a:latin typeface="Aptos"/>
              </a:rPr>
              <a:t>What is Gradient Descent?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353312"/>
            <a:ext cx="10698480" cy="411480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350" b="0">
                <a:solidFill>
                  <a:srgbClr val="A5AEC5"/>
                </a:solidFill>
                <a:latin typeface="Aptos"/>
              </a:rPr>
              <a:t>A numerical optimization technique used to minimize a differentiable function.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057400"/>
            <a:ext cx="3456432" cy="3520440"/>
          </a:xfrm>
          <a:prstGeom prst="roundRect">
            <a:avLst/>
          </a:prstGeom>
          <a:solidFill>
            <a:srgbClr val="151929"/>
          </a:solidFill>
          <a:ln w="12700">
            <a:solidFill>
              <a:srgbClr val="2F3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2221992"/>
            <a:ext cx="3017520" cy="38404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600" b="1">
                <a:solidFill>
                  <a:srgbClr val="46DCFF"/>
                </a:solidFill>
                <a:latin typeface="Aptos"/>
              </a:rPr>
              <a:t>DEFINITION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2670048"/>
            <a:ext cx="3017520" cy="2734056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350" b="0">
                <a:solidFill>
                  <a:srgbClr val="F5F7FC"/>
                </a:solidFill>
                <a:latin typeface="Aptos"/>
              </a:rPr>
              <a:t>Gradient Descent repeatedly changes the current solution so that the value of an objective function decreases.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0832" y="2057400"/>
            <a:ext cx="3456432" cy="3520440"/>
          </a:xfrm>
          <a:prstGeom prst="roundRect">
            <a:avLst/>
          </a:prstGeom>
          <a:solidFill>
            <a:srgbClr val="151929"/>
          </a:solidFill>
          <a:ln w="12700">
            <a:solidFill>
              <a:srgbClr val="2F3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0288" y="2221992"/>
            <a:ext cx="3017520" cy="38404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600" b="1">
                <a:solidFill>
                  <a:srgbClr val="9D69FF"/>
                </a:solidFill>
                <a:latin typeface="Aptos"/>
              </a:rPr>
              <a:t>KEY IDEA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0288" y="2670048"/>
            <a:ext cx="3017520" cy="2734056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350" b="0">
                <a:solidFill>
                  <a:srgbClr val="F5F7FC"/>
                </a:solidFill>
                <a:latin typeface="Aptos"/>
              </a:rPr>
              <a:t>The gradient points toward the direction of steepest increase.
Therefore, moving in the opposite direction reduces the function.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83296" y="2057400"/>
            <a:ext cx="3456432" cy="3520440"/>
          </a:xfrm>
          <a:prstGeom prst="roundRect">
            <a:avLst/>
          </a:prstGeom>
          <a:solidFill>
            <a:srgbClr val="151929"/>
          </a:solidFill>
          <a:ln w="12700">
            <a:solidFill>
              <a:srgbClr val="2F3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2752" y="2221992"/>
            <a:ext cx="3017520" cy="38404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600" b="1">
                <a:solidFill>
                  <a:srgbClr val="48E19B"/>
                </a:solidFill>
                <a:latin typeface="Aptos"/>
              </a:rPr>
              <a:t>DAA PERSPECTIVE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02752" y="2670048"/>
            <a:ext cx="3017520" cy="2734056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350" b="0">
                <a:solidFill>
                  <a:srgbClr val="F5F7FC"/>
                </a:solidFill>
                <a:latin typeface="Aptos"/>
              </a:rPr>
              <a:t>Treat it as an iterative algorithm with:
• initialization
• update rule
• stopping condition
• 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73952"/>
            <a:ext cx="10789920" cy="20116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r"/>
            <a:r>
              <a:rPr sz="850" b="0">
                <a:solidFill>
                  <a:srgbClr val="A5AEC5"/>
                </a:solidFill>
                <a:latin typeface="Aptos"/>
              </a:rPr>
              <a:t>GRADIENT DESCENT  •  DESIGN &amp; ANALYSIS OF ALGORITHMS  •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0040"/>
            <a:ext cx="10789920" cy="256032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000" b="1">
                <a:solidFill>
                  <a:srgbClr val="46DCFF"/>
                </a:solidFill>
                <a:latin typeface="Aptos"/>
              </a:rPr>
              <a:t>DAA  / 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35640" cy="56692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2900" b="1">
                <a:solidFill>
                  <a:srgbClr val="F5F7FC"/>
                </a:solidFill>
                <a:latin typeface="Aptos"/>
              </a:rPr>
              <a:t>Optimization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353312"/>
            <a:ext cx="10698480" cy="411480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350" b="0">
                <a:solidFill>
                  <a:srgbClr val="A5AEC5"/>
                </a:solidFill>
                <a:latin typeface="Aptos"/>
              </a:rPr>
              <a:t>Gradient Descent searches for a value that minimizes an objective function.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84831"/>
            <a:ext cx="5166360" cy="3566160"/>
          </a:xfrm>
          <a:prstGeom prst="roundRect">
            <a:avLst/>
          </a:prstGeom>
          <a:solidFill>
            <a:srgbClr val="151929"/>
          </a:solidFill>
          <a:ln w="12700">
            <a:solidFill>
              <a:srgbClr val="2F3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0976" y="2249424"/>
            <a:ext cx="4727448" cy="38404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600" b="1">
                <a:solidFill>
                  <a:srgbClr val="46DCFF"/>
                </a:solidFill>
                <a:latin typeface="Aptos"/>
              </a:rPr>
              <a:t>OBJECTIVE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" y="2697479"/>
            <a:ext cx="4727448" cy="2779776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400" b="0">
                <a:solidFill>
                  <a:srgbClr val="F5F7FC"/>
                </a:solidFill>
                <a:latin typeface="Aptos"/>
              </a:rPr>
              <a:t>Given a differentiable function f(x), find x* such that f(x*) is as small as possible.
For multiple variables, x is a vector of parameters.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084831"/>
            <a:ext cx="5166360" cy="3566160"/>
          </a:xfrm>
          <a:prstGeom prst="roundRect">
            <a:avLst/>
          </a:prstGeom>
          <a:solidFill>
            <a:srgbClr val="151929"/>
          </a:solidFill>
          <a:ln w="12700">
            <a:solidFill>
              <a:srgbClr val="2F3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0528" y="2249424"/>
            <a:ext cx="4727448" cy="38404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600" b="1">
                <a:solidFill>
                  <a:srgbClr val="48E19B"/>
                </a:solidFill>
                <a:latin typeface="Aptos"/>
              </a:rPr>
              <a:t>SIMPLE EXAMPLE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10528" y="2697479"/>
            <a:ext cx="4727448" cy="2779776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400" b="0">
                <a:solidFill>
                  <a:srgbClr val="F5F7FC"/>
                </a:solidFill>
                <a:latin typeface="Aptos"/>
              </a:rPr>
              <a:t>For f(x) = x², the minimum is at x = 0.
Gradient Descent starts from an initial value and repeatedly moves closer to that minimum.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6473952"/>
            <a:ext cx="10789920" cy="20116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r"/>
            <a:r>
              <a:rPr sz="850" b="0">
                <a:solidFill>
                  <a:srgbClr val="A5AEC5"/>
                </a:solidFill>
                <a:latin typeface="Aptos"/>
              </a:rPr>
              <a:t>GRADIENT DESCENT  •  DESIGN &amp; ANALYSIS OF ALGORITHMS  •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0040"/>
            <a:ext cx="10789920" cy="256032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000" b="1">
                <a:solidFill>
                  <a:srgbClr val="46DCFF"/>
                </a:solidFill>
                <a:latin typeface="Aptos"/>
              </a:rPr>
              <a:t>DAA  /  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35640" cy="56692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2900" b="1">
                <a:solidFill>
                  <a:srgbClr val="F5F7FC"/>
                </a:solidFill>
                <a:latin typeface="Aptos"/>
              </a:rPr>
              <a:t>Mathematical Update Rule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353312"/>
            <a:ext cx="10698480" cy="411480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350" b="0">
                <a:solidFill>
                  <a:srgbClr val="A5AEC5"/>
                </a:solidFill>
                <a:latin typeface="Aptos"/>
              </a:rPr>
              <a:t>The central operation performed in every iteration.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2057400"/>
            <a:ext cx="10241280" cy="1417320"/>
          </a:xfrm>
          <a:prstGeom prst="roundRect">
            <a:avLst/>
          </a:prstGeom>
          <a:solidFill>
            <a:srgbClr val="151929"/>
          </a:solidFill>
          <a:ln>
            <a:solidFill>
              <a:srgbClr val="2F3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304288"/>
            <a:ext cx="9875520" cy="777240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ctr"/>
            <a:r>
              <a:rPr sz="3200" b="1">
                <a:solidFill>
                  <a:srgbClr val="46DCFF"/>
                </a:solidFill>
                <a:latin typeface="Cambria Math"/>
              </a:rPr>
              <a:t>x  ←  x  −  α ∇f(x)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913632"/>
            <a:ext cx="10424160" cy="38404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ctr"/>
            <a:r>
              <a:rPr sz="1500" b="0">
                <a:solidFill>
                  <a:srgbClr val="F5F7FC"/>
                </a:solidFill>
                <a:latin typeface="Aptos"/>
              </a:rPr>
              <a:t>x = current solution     α = learning rate     ∇f(x) = gradient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526280"/>
            <a:ext cx="10424160" cy="685800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ctr"/>
            <a:r>
              <a:rPr sz="1600" b="0">
                <a:solidFill>
                  <a:srgbClr val="A5AEC5"/>
                </a:solidFill>
                <a:latin typeface="Aptos"/>
              </a:rPr>
              <a:t>The minus sign makes the algorithm move opposite to the gradient, toward decreasing function values.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473952"/>
            <a:ext cx="10789920" cy="20116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r"/>
            <a:r>
              <a:rPr sz="850" b="0">
                <a:solidFill>
                  <a:srgbClr val="A5AEC5"/>
                </a:solidFill>
                <a:latin typeface="Aptos"/>
              </a:rPr>
              <a:t>GRADIENT DESCENT  •  DESIGN &amp; ANALYSIS OF ALGORITHMS  •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0040"/>
            <a:ext cx="10789920" cy="256032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000" b="1">
                <a:solidFill>
                  <a:srgbClr val="46DCFF"/>
                </a:solidFill>
                <a:latin typeface="Aptos"/>
              </a:rPr>
              <a:t>DAA  /  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35640" cy="56692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2900" b="1">
                <a:solidFill>
                  <a:srgbClr val="F5F7FC"/>
                </a:solidFill>
                <a:latin typeface="Aptos"/>
              </a:rPr>
              <a:t>Algorithm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353312"/>
            <a:ext cx="10698480" cy="411480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350" b="0">
                <a:solidFill>
                  <a:srgbClr val="A5AEC5"/>
                </a:solidFill>
                <a:latin typeface="Aptos"/>
              </a:rPr>
              <a:t>The complete process can be summarized in five steps.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240280"/>
            <a:ext cx="2057400" cy="3337560"/>
          </a:xfrm>
          <a:prstGeom prst="roundRect">
            <a:avLst/>
          </a:prstGeom>
          <a:solidFill>
            <a:srgbClr val="151929"/>
          </a:solidFill>
          <a:ln>
            <a:solidFill>
              <a:srgbClr val="2F3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2487168"/>
            <a:ext cx="1719072" cy="347472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2000" b="1">
                <a:solidFill>
                  <a:srgbClr val="46DCFF"/>
                </a:solidFill>
                <a:latin typeface="Apto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3127248"/>
            <a:ext cx="1719072" cy="347472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450" b="1">
                <a:solidFill>
                  <a:srgbClr val="F5F7FC"/>
                </a:solidFill>
                <a:latin typeface="Aptos"/>
              </a:rPr>
              <a:t>INITIALIZE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3675887"/>
            <a:ext cx="1719072" cy="1353312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220" b="0">
                <a:solidFill>
                  <a:srgbClr val="A5AEC5"/>
                </a:solidFill>
                <a:latin typeface="Aptos"/>
              </a:rPr>
              <a:t>Choose x₀ and a learning rate α.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39" y="2240280"/>
            <a:ext cx="2057400" cy="3337560"/>
          </a:xfrm>
          <a:prstGeom prst="roundRect">
            <a:avLst/>
          </a:prstGeom>
          <a:solidFill>
            <a:srgbClr val="151929"/>
          </a:solidFill>
          <a:ln>
            <a:solidFill>
              <a:srgbClr val="2F3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99232" y="2487168"/>
            <a:ext cx="1719072" cy="347472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2000" b="1">
                <a:solidFill>
                  <a:srgbClr val="9D69FF"/>
                </a:solidFill>
                <a:latin typeface="Aptos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99232" y="3127248"/>
            <a:ext cx="1719072" cy="347472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450" b="1">
                <a:solidFill>
                  <a:srgbClr val="F5F7FC"/>
                </a:solidFill>
                <a:latin typeface="Aptos"/>
              </a:rPr>
              <a:t>CALCULATE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99232" y="3675887"/>
            <a:ext cx="1719072" cy="1353312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220" b="0">
                <a:solidFill>
                  <a:srgbClr val="A5AEC5"/>
                </a:solidFill>
                <a:latin typeface="Aptos"/>
              </a:rPr>
              <a:t>Compute the gradient ∇f(x).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66359" y="2240280"/>
            <a:ext cx="2057400" cy="3337560"/>
          </a:xfrm>
          <a:prstGeom prst="roundRect">
            <a:avLst/>
          </a:prstGeom>
          <a:solidFill>
            <a:srgbClr val="151929"/>
          </a:solidFill>
          <a:ln>
            <a:solidFill>
              <a:srgbClr val="2F3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30951" y="2487168"/>
            <a:ext cx="1719072" cy="347472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2000" b="1">
                <a:solidFill>
                  <a:srgbClr val="FF5BA9"/>
                </a:solidFill>
                <a:latin typeface="Aptos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30951" y="3127248"/>
            <a:ext cx="1719072" cy="347472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450" b="1">
                <a:solidFill>
                  <a:srgbClr val="F5F7FC"/>
                </a:solidFill>
                <a:latin typeface="Aptos"/>
              </a:rPr>
              <a:t>UPDATE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30951" y="3675887"/>
            <a:ext cx="1719072" cy="1353312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220" b="0">
                <a:solidFill>
                  <a:srgbClr val="A5AEC5"/>
                </a:solidFill>
                <a:latin typeface="Aptos"/>
              </a:rPr>
              <a:t>Set x ← x − α∇f(x).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79" y="2240280"/>
            <a:ext cx="2057400" cy="3337560"/>
          </a:xfrm>
          <a:prstGeom prst="roundRect">
            <a:avLst/>
          </a:prstGeom>
          <a:solidFill>
            <a:srgbClr val="151929"/>
          </a:solidFill>
          <a:ln>
            <a:solidFill>
              <a:srgbClr val="2F3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62671" y="2487168"/>
            <a:ext cx="1719072" cy="347472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2000" b="1">
                <a:solidFill>
                  <a:srgbClr val="48E19B"/>
                </a:solidFill>
                <a:latin typeface="Aptos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62671" y="3127248"/>
            <a:ext cx="1719072" cy="347472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450" b="1">
                <a:solidFill>
                  <a:srgbClr val="F5F7FC"/>
                </a:solidFill>
                <a:latin typeface="Aptos"/>
              </a:rPr>
              <a:t>CHECK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62671" y="3675887"/>
            <a:ext cx="1719072" cy="1353312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220" b="0">
                <a:solidFill>
                  <a:srgbClr val="A5AEC5"/>
                </a:solidFill>
                <a:latin typeface="Aptos"/>
              </a:rPr>
              <a:t>Test the stopping condition.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829800" y="2240280"/>
            <a:ext cx="2057400" cy="3337560"/>
          </a:xfrm>
          <a:prstGeom prst="roundRect">
            <a:avLst/>
          </a:prstGeom>
          <a:solidFill>
            <a:srgbClr val="151929"/>
          </a:solidFill>
          <a:ln>
            <a:solidFill>
              <a:srgbClr val="2F3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94392" y="2487168"/>
            <a:ext cx="1719072" cy="347472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2000" b="1">
                <a:solidFill>
                  <a:srgbClr val="FFD352"/>
                </a:solidFill>
                <a:latin typeface="Aptos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94392" y="3127248"/>
            <a:ext cx="1719072" cy="347472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450" b="1">
                <a:solidFill>
                  <a:srgbClr val="F5F7FC"/>
                </a:solidFill>
                <a:latin typeface="Aptos"/>
              </a:rPr>
              <a:t>REPEAT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94392" y="3675887"/>
            <a:ext cx="1719072" cy="1353312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220" b="0">
                <a:solidFill>
                  <a:srgbClr val="A5AEC5"/>
                </a:solidFill>
                <a:latin typeface="Aptos"/>
              </a:rPr>
              <a:t>Continue until convergence or the iteration limit.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6473952"/>
            <a:ext cx="10789920" cy="20116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r"/>
            <a:r>
              <a:rPr sz="850" b="0">
                <a:solidFill>
                  <a:srgbClr val="A5AEC5"/>
                </a:solidFill>
                <a:latin typeface="Aptos"/>
              </a:rPr>
              <a:t>GRADIENT DESCENT  •  DESIGN &amp; ANALYSIS OF ALGORITHMS  •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0040"/>
            <a:ext cx="10789920" cy="256032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000" b="1">
                <a:solidFill>
                  <a:srgbClr val="46DCFF"/>
                </a:solidFill>
                <a:latin typeface="Aptos"/>
              </a:rPr>
              <a:t>DAA  /  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35640" cy="56692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2900" b="1">
                <a:solidFill>
                  <a:srgbClr val="F5F7FC"/>
                </a:solidFill>
                <a:latin typeface="Aptos"/>
              </a:rPr>
              <a:t>Pseudocode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353312"/>
            <a:ext cx="10698480" cy="411480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350" b="0">
                <a:solidFill>
                  <a:srgbClr val="A5AEC5"/>
                </a:solidFill>
                <a:latin typeface="Aptos"/>
              </a:rPr>
              <a:t>A DAA-style representation of the algorithm.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874519"/>
            <a:ext cx="10332720" cy="3977639"/>
          </a:xfrm>
          <a:prstGeom prst="roundRect">
            <a:avLst/>
          </a:prstGeom>
          <a:solidFill>
            <a:srgbClr val="0E121F"/>
          </a:solidFill>
          <a:ln>
            <a:solidFill>
              <a:srgbClr val="2F3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057400"/>
            <a:ext cx="9692640" cy="320040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450" b="1">
                <a:solidFill>
                  <a:srgbClr val="46DCFF"/>
                </a:solidFill>
                <a:latin typeface="Courier New"/>
              </a:rPr>
              <a:t>GRADIENT_DESCENT(f, x, α, ε, maxIter)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505456"/>
            <a:ext cx="9692640" cy="320040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450" b="0">
                <a:solidFill>
                  <a:srgbClr val="F5F7FC"/>
                </a:solidFill>
                <a:latin typeface="Courier New"/>
              </a:rPr>
              <a:t>    for i ← 1 to maxIter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953512"/>
            <a:ext cx="9692640" cy="320040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450" b="0">
                <a:solidFill>
                  <a:srgbClr val="F5F7FC"/>
                </a:solidFill>
                <a:latin typeface="Courier New"/>
              </a:rPr>
              <a:t>        g ← ∇f(x)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01568"/>
            <a:ext cx="9692640" cy="320040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450" b="0">
                <a:solidFill>
                  <a:srgbClr val="F5F7FC"/>
                </a:solidFill>
                <a:latin typeface="Courier New"/>
              </a:rPr>
              <a:t>        x_new ← x − α × 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849624"/>
            <a:ext cx="9692640" cy="320040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450" b="0">
                <a:solidFill>
                  <a:srgbClr val="F5F7FC"/>
                </a:solidFill>
                <a:latin typeface="Courier New"/>
              </a:rPr>
              <a:t>        if |x_new − x| &lt; 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97680"/>
            <a:ext cx="9692640" cy="320040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450" b="0">
                <a:solidFill>
                  <a:srgbClr val="F5F7FC"/>
                </a:solidFill>
                <a:latin typeface="Courier New"/>
              </a:rPr>
              <a:t>            return x_new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745736"/>
            <a:ext cx="9692640" cy="320040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450" b="0">
                <a:solidFill>
                  <a:srgbClr val="F5F7FC"/>
                </a:solidFill>
                <a:latin typeface="Courier New"/>
              </a:rPr>
              <a:t>        x ← x_new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5193792"/>
            <a:ext cx="9692640" cy="320040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450" b="0">
                <a:solidFill>
                  <a:srgbClr val="F5F7FC"/>
                </a:solidFill>
                <a:latin typeface="Courier New"/>
              </a:rPr>
              <a:t>    return 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73952"/>
            <a:ext cx="10789920" cy="20116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r"/>
            <a:r>
              <a:rPr sz="850" b="0">
                <a:solidFill>
                  <a:srgbClr val="A5AEC5"/>
                </a:solidFill>
                <a:latin typeface="Aptos"/>
              </a:rPr>
              <a:t>GRADIENT DESCENT  •  DESIGN &amp; ANALYSIS OF ALGORITHMS  •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0040"/>
            <a:ext cx="10789920" cy="256032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000" b="1">
                <a:solidFill>
                  <a:srgbClr val="46DCFF"/>
                </a:solidFill>
                <a:latin typeface="Aptos"/>
              </a:rPr>
              <a:t>DAA  /  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35640" cy="56692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2900" b="1">
                <a:solidFill>
                  <a:srgbClr val="F5F7FC"/>
                </a:solidFill>
                <a:latin typeface="Aptos"/>
              </a:rPr>
              <a:t>Worked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353312"/>
            <a:ext cx="10698480" cy="411480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350" b="0">
                <a:solidFill>
                  <a:srgbClr val="A5AEC5"/>
                </a:solidFill>
                <a:latin typeface="Aptos"/>
              </a:rPr>
              <a:t>Minimize f(x) = x² using x₀ = 4 and α = 0.25.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" y="2176272"/>
            <a:ext cx="2578608" cy="3429000"/>
          </a:xfrm>
          <a:prstGeom prst="roundRect">
            <a:avLst/>
          </a:prstGeom>
          <a:solidFill>
            <a:srgbClr val="151929"/>
          </a:solidFill>
          <a:ln w="12700">
            <a:solidFill>
              <a:srgbClr val="2F3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340864"/>
            <a:ext cx="2139696" cy="38404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600" b="1">
                <a:solidFill>
                  <a:srgbClr val="46DCFF"/>
                </a:solidFill>
                <a:latin typeface="Aptos"/>
              </a:rPr>
              <a:t>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788920"/>
            <a:ext cx="2139696" cy="2642616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220" b="0">
                <a:solidFill>
                  <a:srgbClr val="F5F7FC"/>
                </a:solidFill>
                <a:latin typeface="Aptos"/>
              </a:rPr>
              <a:t>x = 4
∇f(x) = 2x = 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11296" y="2176272"/>
            <a:ext cx="2578608" cy="3429000"/>
          </a:xfrm>
          <a:prstGeom prst="roundRect">
            <a:avLst/>
          </a:prstGeom>
          <a:solidFill>
            <a:srgbClr val="151929"/>
          </a:solidFill>
          <a:ln w="12700">
            <a:solidFill>
              <a:srgbClr val="2F3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30752" y="2340864"/>
            <a:ext cx="2139696" cy="38404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600" b="1">
                <a:solidFill>
                  <a:srgbClr val="9D69FF"/>
                </a:solidFill>
                <a:latin typeface="Aptos"/>
              </a:rPr>
              <a:t>ITERATION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30752" y="2788920"/>
            <a:ext cx="2139696" cy="2642616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220" b="0">
                <a:solidFill>
                  <a:srgbClr val="F5F7FC"/>
                </a:solidFill>
                <a:latin typeface="Aptos"/>
              </a:rPr>
              <a:t>x = 4 − 0.25(8) = 2
f(2) = 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2176272"/>
            <a:ext cx="2578608" cy="3429000"/>
          </a:xfrm>
          <a:prstGeom prst="roundRect">
            <a:avLst/>
          </a:prstGeom>
          <a:solidFill>
            <a:srgbClr val="151929"/>
          </a:solidFill>
          <a:ln w="12700">
            <a:solidFill>
              <a:srgbClr val="2F3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0256" y="2340864"/>
            <a:ext cx="2139696" cy="38404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600" b="1">
                <a:solidFill>
                  <a:srgbClr val="FF5BA9"/>
                </a:solidFill>
                <a:latin typeface="Aptos"/>
              </a:rPr>
              <a:t>ITERATION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0256" y="2788920"/>
            <a:ext cx="2139696" cy="2642616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220" b="0">
                <a:solidFill>
                  <a:srgbClr val="F5F7FC"/>
                </a:solidFill>
                <a:latin typeface="Aptos"/>
              </a:rPr>
              <a:t>x = 2 − 0.25(4) = 1
f(1) = 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90304" y="2176272"/>
            <a:ext cx="2578608" cy="3429000"/>
          </a:xfrm>
          <a:prstGeom prst="roundRect">
            <a:avLst/>
          </a:prstGeom>
          <a:solidFill>
            <a:srgbClr val="151929"/>
          </a:solidFill>
          <a:ln w="12700">
            <a:solidFill>
              <a:srgbClr val="2F3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09760" y="2340864"/>
            <a:ext cx="2139696" cy="38404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600" b="1">
                <a:solidFill>
                  <a:srgbClr val="48E19B"/>
                </a:solidFill>
                <a:latin typeface="Aptos"/>
              </a:rPr>
              <a:t>ITERATION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09760" y="2788920"/>
            <a:ext cx="2139696" cy="2642616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220" b="0">
                <a:solidFill>
                  <a:srgbClr val="F5F7FC"/>
                </a:solidFill>
                <a:latin typeface="Aptos"/>
              </a:rPr>
              <a:t>x = 1 − 0.25(2) = 0.5
f(0.5) = 0.25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806440"/>
            <a:ext cx="10332720" cy="320040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FFD352"/>
                </a:solidFill>
                <a:latin typeface="Aptos"/>
              </a:rPr>
              <a:t>The sequence moves toward the minimum x = 0.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6473952"/>
            <a:ext cx="10789920" cy="20116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r"/>
            <a:r>
              <a:rPr sz="850" b="0">
                <a:solidFill>
                  <a:srgbClr val="A5AEC5"/>
                </a:solidFill>
                <a:latin typeface="Aptos"/>
              </a:rPr>
              <a:t>GRADIENT DESCENT  •  DESIGN &amp; ANALYSIS OF ALGORITHMS  •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0040"/>
            <a:ext cx="10789920" cy="256032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000" b="1">
                <a:solidFill>
                  <a:srgbClr val="46DCFF"/>
                </a:solidFill>
                <a:latin typeface="Aptos"/>
              </a:rPr>
              <a:t>DAA  /  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35640" cy="56692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2900" b="1">
                <a:solidFill>
                  <a:srgbClr val="F5F7FC"/>
                </a:solidFill>
                <a:latin typeface="Aptos"/>
              </a:rPr>
              <a:t>Time &amp; Space Complexity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353312"/>
            <a:ext cx="10698480" cy="411480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350" b="0">
                <a:solidFill>
                  <a:srgbClr val="A5AEC5"/>
                </a:solidFill>
                <a:latin typeface="Aptos"/>
              </a:rPr>
              <a:t>The exact cost depends on the function and the cost of calculating its gradient.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21408"/>
            <a:ext cx="3456432" cy="3520440"/>
          </a:xfrm>
          <a:prstGeom prst="roundRect">
            <a:avLst/>
          </a:prstGeom>
          <a:solidFill>
            <a:srgbClr val="151929"/>
          </a:solidFill>
          <a:ln w="12700">
            <a:solidFill>
              <a:srgbClr val="2F3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2286000"/>
            <a:ext cx="3017520" cy="38404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600" b="1">
                <a:solidFill>
                  <a:srgbClr val="46DCFF"/>
                </a:solidFill>
                <a:latin typeface="Aptos"/>
              </a:rPr>
              <a:t>ONE ITERATION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2734056"/>
            <a:ext cx="3017520" cy="2734056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350" b="0">
                <a:solidFill>
                  <a:srgbClr val="F5F7FC"/>
                </a:solidFill>
                <a:latin typeface="Aptos"/>
              </a:rPr>
              <a:t>If the gradient costs O(C), then one update costs approximately O(C).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0832" y="2121408"/>
            <a:ext cx="3456432" cy="3520440"/>
          </a:xfrm>
          <a:prstGeom prst="roundRect">
            <a:avLst/>
          </a:prstGeom>
          <a:solidFill>
            <a:srgbClr val="151929"/>
          </a:solidFill>
          <a:ln w="12700">
            <a:solidFill>
              <a:srgbClr val="2F3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0288" y="2286000"/>
            <a:ext cx="3017520" cy="38404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600" b="1">
                <a:solidFill>
                  <a:srgbClr val="9D69FF"/>
                </a:solidFill>
                <a:latin typeface="Aptos"/>
              </a:rPr>
              <a:t>TOTAL TIME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0288" y="2734056"/>
            <a:ext cx="3017520" cy="2734056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350" b="0">
                <a:solidFill>
                  <a:srgbClr val="F5F7FC"/>
                </a:solidFill>
                <a:latin typeface="Aptos"/>
              </a:rPr>
              <a:t>For k iterations:
O(kC)
If the gradient costs constant time, this becomes O(k).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83296" y="2121408"/>
            <a:ext cx="3456432" cy="3520440"/>
          </a:xfrm>
          <a:prstGeom prst="roundRect">
            <a:avLst/>
          </a:prstGeom>
          <a:solidFill>
            <a:srgbClr val="151929"/>
          </a:solidFill>
          <a:ln w="12700">
            <a:solidFill>
              <a:srgbClr val="2F3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2752" y="2286000"/>
            <a:ext cx="3017520" cy="38404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600" b="1">
                <a:solidFill>
                  <a:srgbClr val="48E19B"/>
                </a:solidFill>
                <a:latin typeface="Aptos"/>
              </a:rPr>
              <a:t>SPACE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02752" y="2734056"/>
            <a:ext cx="3017520" cy="2734056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350" b="0">
                <a:solidFill>
                  <a:srgbClr val="F5F7FC"/>
                </a:solidFill>
                <a:latin typeface="Aptos"/>
              </a:rPr>
              <a:t>A basic implementation needs only a constant amount of auxiliary memory:
O(1)
excluding stored input/model data.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73952"/>
            <a:ext cx="10789920" cy="20116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r"/>
            <a:r>
              <a:rPr sz="850" b="0">
                <a:solidFill>
                  <a:srgbClr val="A5AEC5"/>
                </a:solidFill>
                <a:latin typeface="Aptos"/>
              </a:rPr>
              <a:t>GRADIENT DESCENT  •  DESIGN &amp; ANALYSIS OF ALGORITHMS  • 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0040"/>
            <a:ext cx="10789920" cy="256032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000" b="1">
                <a:solidFill>
                  <a:srgbClr val="46DCFF"/>
                </a:solidFill>
                <a:latin typeface="Aptos"/>
              </a:rPr>
              <a:t>DAA  /  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35640" cy="56692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2900" b="1">
                <a:solidFill>
                  <a:srgbClr val="F5F7FC"/>
                </a:solidFill>
                <a:latin typeface="Aptos"/>
              </a:rPr>
              <a:t>Convergence &amp; Stopping Conditions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353312"/>
            <a:ext cx="10698480" cy="411480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350" b="0">
                <a:solidFill>
                  <a:srgbClr val="A5AEC5"/>
                </a:solidFill>
                <a:latin typeface="Aptos"/>
              </a:rPr>
              <a:t>The algorithm needs a rule that tells it when to stop.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21408"/>
            <a:ext cx="3456432" cy="3520440"/>
          </a:xfrm>
          <a:prstGeom prst="roundRect">
            <a:avLst/>
          </a:prstGeom>
          <a:solidFill>
            <a:srgbClr val="151929"/>
          </a:solidFill>
          <a:ln w="12700">
            <a:solidFill>
              <a:srgbClr val="2F3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2286000"/>
            <a:ext cx="3017520" cy="38404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600" b="1">
                <a:solidFill>
                  <a:srgbClr val="46DCFF"/>
                </a:solidFill>
                <a:latin typeface="Aptos"/>
              </a:rPr>
              <a:t>GRADIENT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2734056"/>
            <a:ext cx="3017520" cy="2734056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320" b="0">
                <a:solidFill>
                  <a:srgbClr val="F5F7FC"/>
                </a:solidFill>
                <a:latin typeface="Aptos"/>
              </a:rPr>
              <a:t>Stop when the gradient is sufficiently small:
||∇f(x)|| &lt; ε
This suggests we are near a stationary point.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0832" y="2121408"/>
            <a:ext cx="3456432" cy="3520440"/>
          </a:xfrm>
          <a:prstGeom prst="roundRect">
            <a:avLst/>
          </a:prstGeom>
          <a:solidFill>
            <a:srgbClr val="151929"/>
          </a:solidFill>
          <a:ln w="12700">
            <a:solidFill>
              <a:srgbClr val="2F3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0288" y="2286000"/>
            <a:ext cx="3017520" cy="38404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600" b="1">
                <a:solidFill>
                  <a:srgbClr val="9D69FF"/>
                </a:solidFill>
                <a:latin typeface="Aptos"/>
              </a:rPr>
              <a:t>CHANGE IN 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0288" y="2734056"/>
            <a:ext cx="3017520" cy="2734056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320" b="0">
                <a:solidFill>
                  <a:srgbClr val="F5F7FC"/>
                </a:solidFill>
                <a:latin typeface="Aptos"/>
              </a:rPr>
              <a:t>Stop when consecutive solutions barely change:
||xₜ₊₁ − xₜ|| &lt; 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83296" y="2121408"/>
            <a:ext cx="3456432" cy="3520440"/>
          </a:xfrm>
          <a:prstGeom prst="roundRect">
            <a:avLst/>
          </a:prstGeom>
          <a:solidFill>
            <a:srgbClr val="151929"/>
          </a:solidFill>
          <a:ln w="12700">
            <a:solidFill>
              <a:srgbClr val="2F3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2752" y="2286000"/>
            <a:ext cx="3017520" cy="38404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600" b="1">
                <a:solidFill>
                  <a:srgbClr val="48E19B"/>
                </a:solidFill>
                <a:latin typeface="Aptos"/>
              </a:rPr>
              <a:t>MAX ITERATIONS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02752" y="2734056"/>
            <a:ext cx="3017520" cy="2734056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320" b="0">
                <a:solidFill>
                  <a:srgbClr val="F5F7FC"/>
                </a:solidFill>
                <a:latin typeface="Aptos"/>
              </a:rPr>
              <a:t>Stop after a fixed number of iterations.
Useful as a safety limit when convergence is slow.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73952"/>
            <a:ext cx="10789920" cy="20116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r"/>
            <a:r>
              <a:rPr sz="850" b="0">
                <a:solidFill>
                  <a:srgbClr val="A5AEC5"/>
                </a:solidFill>
                <a:latin typeface="Aptos"/>
              </a:rPr>
              <a:t>GRADIENT DESCENT  •  DESIGN &amp; ANALYSIS OF ALGORITHMS  • 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0040"/>
            <a:ext cx="10789920" cy="256032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000" b="1">
                <a:solidFill>
                  <a:srgbClr val="46DCFF"/>
                </a:solidFill>
                <a:latin typeface="Aptos"/>
              </a:rPr>
              <a:t>DAA  / 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35640" cy="56692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2900" b="1">
                <a:solidFill>
                  <a:srgbClr val="F5F7FC"/>
                </a:solidFill>
                <a:latin typeface="Aptos"/>
              </a:rPr>
              <a:t>Learning Rate 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353312"/>
            <a:ext cx="10698480" cy="411480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350" b="0">
                <a:solidFill>
                  <a:srgbClr val="A5AEC5"/>
                </a:solidFill>
                <a:latin typeface="Aptos"/>
              </a:rPr>
              <a:t>The step size controls how aggressively the algorithm moves.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48840"/>
            <a:ext cx="3456432" cy="3429000"/>
          </a:xfrm>
          <a:prstGeom prst="roundRect">
            <a:avLst/>
          </a:prstGeom>
          <a:solidFill>
            <a:srgbClr val="151929"/>
          </a:solidFill>
          <a:ln w="12700">
            <a:solidFill>
              <a:srgbClr val="2F3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2313432"/>
            <a:ext cx="3017520" cy="38404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600" b="1">
                <a:solidFill>
                  <a:srgbClr val="46DCFF"/>
                </a:solidFill>
                <a:latin typeface="Aptos"/>
              </a:rPr>
              <a:t>TOO SMALL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2761488"/>
            <a:ext cx="3017520" cy="2642616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400" b="0">
                <a:solidFill>
                  <a:srgbClr val="F5F7FC"/>
                </a:solidFill>
                <a:latin typeface="Aptos"/>
              </a:rPr>
              <a:t>Very small updates.
✓ Usually stable
✗ Slow convergence
✗ Many iterations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0832" y="2148840"/>
            <a:ext cx="3456432" cy="3429000"/>
          </a:xfrm>
          <a:prstGeom prst="roundRect">
            <a:avLst/>
          </a:prstGeom>
          <a:solidFill>
            <a:srgbClr val="151929"/>
          </a:solidFill>
          <a:ln w="12700">
            <a:solidFill>
              <a:srgbClr val="2F3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0288" y="2313432"/>
            <a:ext cx="3017520" cy="38404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600" b="1">
                <a:solidFill>
                  <a:srgbClr val="48E19B"/>
                </a:solidFill>
                <a:latin typeface="Aptos"/>
              </a:rPr>
              <a:t>SUITABLE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0288" y="2761488"/>
            <a:ext cx="3017520" cy="2642616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400" b="0">
                <a:solidFill>
                  <a:srgbClr val="F5F7FC"/>
                </a:solidFill>
                <a:latin typeface="Aptos"/>
              </a:rPr>
              <a:t>Balanced updates.
✓ Good progress
✓ Efficient convergence
✓ Usually stable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83296" y="2148840"/>
            <a:ext cx="3456432" cy="3429000"/>
          </a:xfrm>
          <a:prstGeom prst="roundRect">
            <a:avLst/>
          </a:prstGeom>
          <a:solidFill>
            <a:srgbClr val="151929"/>
          </a:solidFill>
          <a:ln w="12700">
            <a:solidFill>
              <a:srgbClr val="2F3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2752" y="2313432"/>
            <a:ext cx="3017520" cy="38404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600" b="1">
                <a:solidFill>
                  <a:srgbClr val="FF5BA9"/>
                </a:solidFill>
                <a:latin typeface="Aptos"/>
              </a:rPr>
              <a:t>TOO LARGE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02752" y="2761488"/>
            <a:ext cx="3017520" cy="2642616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400" b="0">
                <a:solidFill>
                  <a:srgbClr val="F5F7FC"/>
                </a:solidFill>
                <a:latin typeface="Aptos"/>
              </a:rPr>
              <a:t>Very large updates.
✗ Overshooting
✗ Oscillation
✗ Divergence may occur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73952"/>
            <a:ext cx="10789920" cy="20116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r"/>
            <a:r>
              <a:rPr sz="850" b="0">
                <a:solidFill>
                  <a:srgbClr val="A5AEC5"/>
                </a:solidFill>
                <a:latin typeface="Aptos"/>
              </a:rPr>
              <a:t>GRADIENT DESCENT  •  DESIGN &amp; ANALYSIS OF ALGORITHMS  •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0040"/>
            <a:ext cx="10789920" cy="256032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000" b="1">
                <a:solidFill>
                  <a:srgbClr val="46DCFF"/>
                </a:solidFill>
                <a:latin typeface="Aptos"/>
              </a:rPr>
              <a:t>DAA  / 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35640" cy="56692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2900" b="1">
                <a:solidFill>
                  <a:srgbClr val="F5F7FC"/>
                </a:solidFill>
                <a:latin typeface="Aptos"/>
              </a:rPr>
              <a:t>Advantages &amp; 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353312"/>
            <a:ext cx="10698480" cy="411480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350" b="0">
                <a:solidFill>
                  <a:srgbClr val="A5AEC5"/>
                </a:solidFill>
                <a:latin typeface="Aptos"/>
              </a:rPr>
              <a:t>Understanding trade-offs is an important part of algorithm analysis.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057400"/>
            <a:ext cx="5212080" cy="3703320"/>
          </a:xfrm>
          <a:prstGeom prst="roundRect">
            <a:avLst/>
          </a:prstGeom>
          <a:solidFill>
            <a:srgbClr val="151929"/>
          </a:solidFill>
          <a:ln w="12700">
            <a:solidFill>
              <a:srgbClr val="2F3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5256" y="2221992"/>
            <a:ext cx="4773168" cy="38404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600" b="1">
                <a:solidFill>
                  <a:srgbClr val="48E19B"/>
                </a:solidFill>
                <a:latin typeface="Aptos"/>
              </a:rPr>
              <a:t>ADVANTAGES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256" y="2670048"/>
            <a:ext cx="4773168" cy="2916936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330" b="0">
                <a:solidFill>
                  <a:srgbClr val="F5F7FC"/>
                </a:solidFill>
                <a:latin typeface="Aptos"/>
              </a:rPr>
              <a:t>• Simple iterative structure
• Low auxiliary memory
• Effective for large parameter spaces
• Easy to implement
• Can converge quickly under suitable conditions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2057400"/>
            <a:ext cx="5212080" cy="3703320"/>
          </a:xfrm>
          <a:prstGeom prst="roundRect">
            <a:avLst/>
          </a:prstGeom>
          <a:solidFill>
            <a:srgbClr val="151929"/>
          </a:solidFill>
          <a:ln w="12700">
            <a:solidFill>
              <a:srgbClr val="2F3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83096" y="2221992"/>
            <a:ext cx="4773168" cy="38404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600" b="1">
                <a:solidFill>
                  <a:srgbClr val="FF5BA9"/>
                </a:solidFill>
                <a:latin typeface="Aptos"/>
              </a:rPr>
              <a:t>LIMITATIONS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83096" y="2670048"/>
            <a:ext cx="4773168" cy="2916936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330" b="0">
                <a:solidFill>
                  <a:srgbClr val="F5F7FC"/>
                </a:solidFill>
                <a:latin typeface="Aptos"/>
              </a:rPr>
              <a:t>• Requires a differentiable objective
• Sensitive to learning rate
• Can be slow in flat regions
• Non-convex functions may have local minima
• Requires a stopping criterion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6473952"/>
            <a:ext cx="10789920" cy="20116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r"/>
            <a:r>
              <a:rPr sz="850" b="0">
                <a:solidFill>
                  <a:srgbClr val="A5AEC5"/>
                </a:solidFill>
                <a:latin typeface="Aptos"/>
              </a:rPr>
              <a:t>GRADIENT DESCENT  •  DESIGN &amp; ANALYSIS OF ALGORITHMS  •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0040"/>
            <a:ext cx="10789920" cy="256032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000" b="1">
                <a:solidFill>
                  <a:srgbClr val="46DCFF"/>
                </a:solidFill>
                <a:latin typeface="Aptos"/>
              </a:rPr>
              <a:t>DAA  / 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35640" cy="56692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2900" b="1">
                <a:solidFill>
                  <a:srgbClr val="F5F7FC"/>
                </a:solidFill>
                <a:latin typeface="Aptos"/>
              </a:rPr>
              <a:t>Applications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353312"/>
            <a:ext cx="10698480" cy="411480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350" b="0">
                <a:solidFill>
                  <a:srgbClr val="A5AEC5"/>
                </a:solidFill>
                <a:latin typeface="Aptos"/>
              </a:rPr>
              <a:t>Gradient Descent is used wherever an objective function needs to be minimized.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48840"/>
            <a:ext cx="3456432" cy="3429000"/>
          </a:xfrm>
          <a:prstGeom prst="roundRect">
            <a:avLst/>
          </a:prstGeom>
          <a:solidFill>
            <a:srgbClr val="151929"/>
          </a:solidFill>
          <a:ln w="12700">
            <a:solidFill>
              <a:srgbClr val="2F3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2313432"/>
            <a:ext cx="3017520" cy="38404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600" b="1">
                <a:solidFill>
                  <a:srgbClr val="46DCFF"/>
                </a:solidFill>
                <a:latin typeface="Aptos"/>
              </a:rPr>
              <a:t>MACHINE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2761488"/>
            <a:ext cx="3017520" cy="2642616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350" b="0">
                <a:solidFill>
                  <a:srgbClr val="F5F7FC"/>
                </a:solidFill>
                <a:latin typeface="Aptos"/>
              </a:rPr>
              <a:t>Training models by adjusting parameters to reduce an error or loss function.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0832" y="2148840"/>
            <a:ext cx="3456432" cy="3429000"/>
          </a:xfrm>
          <a:prstGeom prst="roundRect">
            <a:avLst/>
          </a:prstGeom>
          <a:solidFill>
            <a:srgbClr val="151929"/>
          </a:solidFill>
          <a:ln w="12700">
            <a:solidFill>
              <a:srgbClr val="2F3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0288" y="2313432"/>
            <a:ext cx="3017520" cy="38404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600" b="1">
                <a:solidFill>
                  <a:srgbClr val="9D69FF"/>
                </a:solidFill>
                <a:latin typeface="Aptos"/>
              </a:rPr>
              <a:t>NUMERICAL OPTIMIZATION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0288" y="2761488"/>
            <a:ext cx="3017520" cy="2642616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350" b="0">
                <a:solidFill>
                  <a:srgbClr val="F5F7FC"/>
                </a:solidFill>
                <a:latin typeface="Aptos"/>
              </a:rPr>
              <a:t>Finding approximate minima of differentiable mathematical functions.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83296" y="2148840"/>
            <a:ext cx="3456432" cy="3429000"/>
          </a:xfrm>
          <a:prstGeom prst="roundRect">
            <a:avLst/>
          </a:prstGeom>
          <a:solidFill>
            <a:srgbClr val="151929"/>
          </a:solidFill>
          <a:ln w="12700">
            <a:solidFill>
              <a:srgbClr val="2F35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2752" y="2313432"/>
            <a:ext cx="3017520" cy="38404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600" b="1">
                <a:solidFill>
                  <a:srgbClr val="48E19B"/>
                </a:solidFill>
                <a:latin typeface="Aptos"/>
              </a:rPr>
              <a:t>ENGINEERING &amp;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02752" y="2761488"/>
            <a:ext cx="3017520" cy="2642616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350" b="0">
                <a:solidFill>
                  <a:srgbClr val="F5F7FC"/>
                </a:solidFill>
                <a:latin typeface="Aptos"/>
              </a:rPr>
              <a:t>Large-scale problems where repeated, incremental optimization is practical.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73952"/>
            <a:ext cx="10789920" cy="20116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r"/>
            <a:r>
              <a:rPr sz="850" b="0">
                <a:solidFill>
                  <a:srgbClr val="A5AEC5"/>
                </a:solidFill>
                <a:latin typeface="Aptos"/>
              </a:rPr>
              <a:t>GRADIENT DESCENT  •  DESIGN &amp; ANALYSIS OF ALGORITHMS  •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0040"/>
            <a:ext cx="10789920" cy="256032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000" b="1">
                <a:solidFill>
                  <a:srgbClr val="46DCFF"/>
                </a:solidFill>
                <a:latin typeface="Aptos"/>
              </a:rPr>
              <a:t>DAA  / 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35640" cy="56692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2900" b="1">
                <a:solidFill>
                  <a:srgbClr val="F5F7FC"/>
                </a:solidFill>
                <a:latin typeface="Aptos"/>
              </a:rPr>
              <a:t>Quick Revision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353312"/>
            <a:ext cx="10698480" cy="411480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350" b="0">
                <a:solidFill>
                  <a:srgbClr val="A5AEC5"/>
                </a:solidFill>
                <a:latin typeface="Aptos"/>
              </a:rPr>
              <a:t>Gradient Descent in five lines.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965960"/>
            <a:ext cx="9692640" cy="393192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650" b="1">
                <a:solidFill>
                  <a:srgbClr val="F5F7FC"/>
                </a:solidFill>
                <a:latin typeface="Aptos"/>
              </a:rPr>
              <a:t>1. Start with an initial 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578608"/>
            <a:ext cx="9692640" cy="393192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650" b="0">
                <a:solidFill>
                  <a:srgbClr val="F5F7FC"/>
                </a:solidFill>
                <a:latin typeface="Aptos"/>
              </a:rPr>
              <a:t>2. Calculate the gradient.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3191256"/>
            <a:ext cx="9692640" cy="393192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650" b="0">
                <a:solidFill>
                  <a:srgbClr val="F5F7FC"/>
                </a:solidFill>
                <a:latin typeface="Aptos"/>
              </a:rPr>
              <a:t>3. Move opposite to the gradient.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803904"/>
            <a:ext cx="9692640" cy="393192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650" b="0">
                <a:solidFill>
                  <a:srgbClr val="F5F7FC"/>
                </a:solidFill>
                <a:latin typeface="Aptos"/>
              </a:rPr>
              <a:t>4. Repeat until the stopping condition is met.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4416552"/>
            <a:ext cx="9692640" cy="393192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l"/>
            <a:r>
              <a:rPr sz="1650" b="0">
                <a:solidFill>
                  <a:srgbClr val="F5F7FC"/>
                </a:solidFill>
                <a:latin typeface="Aptos"/>
              </a:rPr>
              <a:t>5. Return the approximate minimum.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486400"/>
            <a:ext cx="10149840" cy="438912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ctr"/>
            <a:r>
              <a:rPr sz="1900" b="1">
                <a:solidFill>
                  <a:srgbClr val="46DCFF"/>
                </a:solidFill>
                <a:latin typeface="Cambria Math"/>
              </a:rPr>
              <a:t>KEY FORMULA:   x ← x − α ∇f(x)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6473952"/>
            <a:ext cx="10789920" cy="20116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r"/>
            <a:r>
              <a:rPr sz="850" b="0">
                <a:solidFill>
                  <a:srgbClr val="A5AEC5"/>
                </a:solidFill>
                <a:latin typeface="Aptos"/>
              </a:rPr>
              <a:t>GRADIENT DESCENT  •  DESIGN &amp; ANALYSIS OF ALGORITHMS  •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B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05840"/>
            <a:ext cx="10789920" cy="320040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ctr"/>
            <a:r>
              <a:rPr sz="1100" b="1">
                <a:solidFill>
                  <a:srgbClr val="46DCFF"/>
                </a:solidFill>
                <a:latin typeface="Aptos"/>
              </a:rPr>
              <a:t>DESIGN &amp; ANALYSIS OF ALGORITHMS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74519"/>
            <a:ext cx="10789920" cy="731520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ctr"/>
            <a:r>
              <a:rPr sz="3800" b="1">
                <a:solidFill>
                  <a:srgbClr val="F5F7FC"/>
                </a:solidFill>
                <a:latin typeface="Aptos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063240"/>
            <a:ext cx="10789920" cy="457200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ctr"/>
            <a:r>
              <a:rPr sz="2200" b="1">
                <a:solidFill>
                  <a:srgbClr val="9D69FF"/>
                </a:solidFill>
                <a:latin typeface="Aptos"/>
              </a:rP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166360"/>
            <a:ext cx="10789920" cy="320040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ctr"/>
            <a:r>
              <a:rPr sz="1000" b="1">
                <a:solidFill>
                  <a:srgbClr val="A5AEC5"/>
                </a:solidFill>
                <a:latin typeface="Aptos"/>
              </a:rPr>
              <a:t>GRADIENT DESCENT  •  DAA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73952"/>
            <a:ext cx="10789920" cy="20116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r"/>
            <a:r>
              <a:rPr sz="850" b="0">
                <a:solidFill>
                  <a:srgbClr val="A5AEC5"/>
                </a:solidFill>
                <a:latin typeface="Aptos"/>
              </a:rPr>
              <a:t>GRADIENT DESCENT  •  DESIGN &amp; ANALYSIS OF ALGORITHMS  • 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